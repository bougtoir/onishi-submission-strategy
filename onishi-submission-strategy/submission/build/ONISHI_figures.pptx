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/>
            </a:pPr>
            <a:r>
              <a:t>Figure 1</a:t>
            </a:r>
          </a:p>
        </p:txBody>
      </p:sp>
      <p:pic>
        <p:nvPicPr>
          <p:cNvPr id="3" name="Picture 2" descr="Figur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1907" y="822960"/>
            <a:ext cx="9347881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43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Figure 1. Overview of the ONISHI framework. Three levels at which an evidence synthesis can be compromised are matched to three component methods operating on a common data basis: LINKO between studies, IONE within studies, and KOTHA between study types. ICR, information contribution ratio; IPD, individual patient data; OIS, optimal information size; TSA, trial sequential analysis; GRADE, Grading of Recommendations Assessment, Development and Evaluation.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/>
            </a:pPr>
            <a:r>
              <a:t>Figure 2</a:t>
            </a:r>
          </a:p>
        </p:txBody>
      </p:sp>
      <p:pic>
        <p:nvPicPr>
          <p:cNvPr id="3" name="Picture 2" descr="Figur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372" y="822960"/>
            <a:ext cx="9686949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43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Figure 2. The integrated ONISHI pipeline. Data flow runs IONE → LINKO → KOTHA, with two cross-phase hand-offs shown as dashed arrows: IONE subgroup risk profiles parameterize the KOTHA Module K power simulation, and the LINKO information contribution ratio (ICR) enters the KOTHA Module T Bayesian integration as a prior weight.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/>
            </a:pPr>
            <a:r>
              <a:t>Figure 3</a:t>
            </a:r>
          </a:p>
        </p:txBody>
      </p:sp>
      <p:pic>
        <p:nvPicPr>
          <p:cNvPr id="3" name="Picture 2" descr="Figur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847" y="822960"/>
            <a:ext cx="11429998" cy="44614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43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Figure 3. LINKO + IONE on the International Stroke Trial (18,451 patients; randomized aspirin allocation, 14-day death). A) aspirin odds ratios are coherent across four latent risk strata (C1 [effect] = 1.00, W = 0.18); B) the per-stratum information contribution ratio (ICR) increases with baseline risk, so a coherent effect coexists with a risk-dependent information contribution. OR, odds ratio; ICR, information contribution ratio; ER, event rate.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/>
            </a:pPr>
            <a:r>
              <a:t>Figure 4</a:t>
            </a:r>
          </a:p>
        </p:txBody>
      </p:sp>
      <p:pic>
        <p:nvPicPr>
          <p:cNvPr id="3" name="Picture 2" descr="Figur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4082" y="822960"/>
            <a:ext cx="6003529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43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Figure 4. LINKO + KOTHA on the International Stroke Trial: pooling across 13 national sub-studies by inverse-variance random effects, ICR weighting, and equal weighting. The ICR-weighted and equal-weight point estimates coincide, so information weighting demonstrates robustness rather than a change in estimate. OR, odds ratio; ICR, information contribution ratio.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/>
            </a:pPr>
            <a:r>
              <a:t>Figure 5</a:t>
            </a:r>
          </a:p>
        </p:txBody>
      </p:sp>
      <p:pic>
        <p:nvPicPr>
          <p:cNvPr id="3" name="Picture 2" descr="Figur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37" y="822960"/>
            <a:ext cx="11343219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43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Figure 5. IONE + KOTHA on the International Stroke Trial: A) statistical power at the observed effect against the assumed true odds ratio for each risk stratum; B) power at the trial-wide pooled odds ratio per stratum, quantifying how event scarcity—not absence of effect—drives the flat result. OIS, optimal information size.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/>
            </a:pPr>
            <a:r>
              <a:t>Figure 6</a:t>
            </a:r>
          </a:p>
        </p:txBody>
      </p:sp>
      <p:pic>
        <p:nvPicPr>
          <p:cNvPr id="3" name="Picture 2" descr="Figur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2091" y="822960"/>
            <a:ext cx="6687511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43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Figure 6. Full ONISHI pipeline on the International Stroke Trial: A) IONE subgroup aspirin odds ratios by stratum; B) LINKO per-stratum information weights; C) KOTHA ICR-guided power-prior harmonization (harmonized odds ratio with 95% credible band across the discount on low-ICR strata); D) trial sequential analysis (cumulative Z = −1.73, within the ±1.96 boundary; information fraction 53%). OR, odds ratio; ICR, information contribution ratio.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