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333333"/>
                </a:solidFill>
              </a:defRPr>
            </a:pPr>
            <a:r>
              <a:t>3つの分析フレームワーク: LINKO, IONE, KOTHA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78909C"/>
                </a:solidFill>
              </a:defRPr>
            </a:pPr>
            <a:r>
              <a:t>ONISHI 統合フレームワークの構成要素</a:t>
            </a:r>
            <a:br/>
            <a:r>
              <a:t>(Optimal Normalization, Incoherence Stratification, and Harmonized Integration)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2926080"/>
          </a:xfrm>
          <a:prstGeom prst="roundRect">
            <a:avLst>
              <a:gd name="adj" fmla="val 1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200"/>
              </a:spcAft>
              <a:defRPr sz="1800" b="1" i="0">
                <a:solidFill>
                  <a:srgbClr val="FFFFFF"/>
                </a:solidFill>
              </a:defRPr>
            </a:pPr>
            <a:r>
              <a:t>LINKO</a:t>
            </a:r>
          </a:p>
          <a:p>
            <a:pPr algn="ctr">
              <a:spcAft>
                <a:spcPts val="600"/>
              </a:spcAft>
              <a:defRPr sz="900" b="0" i="1">
                <a:solidFill>
                  <a:srgbClr val="E0E0E0"/>
                </a:solidFill>
              </a:defRPr>
            </a:pPr>
            <a:r>
              <a:t>Latent Information Normalization for Key Outcomes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ICR（情報寄与率）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メタ解析の妥当性診断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Prism Forest Plot 可視化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ICR加重プーリング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434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2196F3"/>
                </a:solidFill>
              </a:defRPr>
            </a:pPr>
            <a:r>
              <a:t>対象: メタ解析レベル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292608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200"/>
              </a:spcAft>
              <a:defRPr sz="1800" b="1" i="0">
                <a:solidFill>
                  <a:srgbClr val="FFFFFF"/>
                </a:solidFill>
              </a:defRPr>
            </a:pPr>
            <a:r>
              <a:t>IONE</a:t>
            </a:r>
          </a:p>
          <a:p>
            <a:pPr algn="ctr">
              <a:spcAft>
                <a:spcPts val="600"/>
              </a:spcAft>
              <a:defRPr sz="900" b="0" i="1">
                <a:solidFill>
                  <a:srgbClr val="E0E0E0"/>
                </a:solidFill>
              </a:defRPr>
            </a:pPr>
            <a:r>
              <a:t>Incoherence-Oriented Neutralization and Extraction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コヒーレント部分集団の検出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C1 コヒーレンス指標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シンプソンのパラドックス解消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隠れた構造の同定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4434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FF9800"/>
                </a:solidFill>
              </a:defRPr>
            </a:pPr>
            <a:r>
              <a:t>対象: 個別研究レベル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292608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200"/>
              </a:spcAft>
              <a:defRPr sz="1800" b="1" i="0">
                <a:solidFill>
                  <a:srgbClr val="FFFFFF"/>
                </a:solidFill>
              </a:defRPr>
            </a:pPr>
            <a:r>
              <a:t>KOTHA</a:t>
            </a:r>
          </a:p>
          <a:p>
            <a:pPr algn="ctr">
              <a:spcAft>
                <a:spcPts val="600"/>
              </a:spcAft>
              <a:defRPr sz="900" b="0" i="1">
                <a:solidFill>
                  <a:srgbClr val="E0E0E0"/>
                </a:solidFill>
              </a:defRPr>
            </a:pPr>
            <a:r>
              <a:t>Knowledge-driven Observational-Trial Harmonization Approach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Module K: 反事実的検出力シミュレーション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Module T: ベイズ統合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Module H: ガイドライン解釈器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RCT-観察研究の調和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434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4CAF50"/>
                </a:solidFill>
              </a:defRPr>
            </a:pPr>
            <a:r>
              <a:t>対象: エビデンス統合レベル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937760"/>
            <a:ext cx="9144000" cy="1097280"/>
          </a:xfrm>
          <a:prstGeom prst="roundRect">
            <a:avLst>
              <a:gd name="adj" fmla="val 10000"/>
            </a:avLst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 i="0">
                <a:solidFill>
                  <a:srgbClr val="FFFFFF"/>
                </a:solidFill>
              </a:defRPr>
            </a:pPr>
            <a:r>
              <a:t>共通データソース</a:t>
            </a:r>
          </a:p>
          <a:p>
            <a:pPr algn="ctr">
              <a:defRPr sz="1000" b="0" i="0">
                <a:solidFill>
                  <a:srgbClr val="FFFFFF"/>
                </a:solidFill>
              </a:defRPr>
            </a:pPr>
            <a:r>
              <a:t>RCT公表データ（Table 1）｜ 個人患者データ（IPD）｜ 観察コホートデータ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333333"/>
                </a:solidFill>
              </a:defRPr>
            </a:pPr>
            <a:r>
              <a:t>組み合わせ 1: LINKO + 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78909C"/>
                </a:solidFill>
              </a:defRPr>
            </a:pPr>
            <a:r>
              <a:t>ICR指導型 部分集団解析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137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1:  LINKOがメタ解析中の異常なICRを同定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52160" y="2057400"/>
            <a:ext cx="182880" cy="228600"/>
          </a:xfrm>
          <a:prstGeom prst="down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228600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2:  IONEが各研究をコヒーレントな部分集団に分解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52160" y="3154680"/>
            <a:ext cx="182880" cy="228600"/>
          </a:xfrm>
          <a:prstGeom prst="down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338328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3:  部分集団ごとにICRを再計算し、異質性の隠れた原因を特定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52160" y="4251960"/>
            <a:ext cx="182880" cy="228600"/>
          </a:xfrm>
          <a:prstGeom prst="down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448056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4:  部分集団別ICR加重メタ解析を実施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669280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獲得能力: 異質性の根本原因の特定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333333"/>
                </a:solidFill>
              </a:defRPr>
            </a:pPr>
            <a:r>
              <a:t>組み合わせ 2: LINKO + KOTHA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78909C"/>
                </a:solidFill>
              </a:defRPr>
            </a:pPr>
            <a:r>
              <a:t>情報構造を反映したエビデンス統合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137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1:  LINKOがエンドポイントの情報寄与を定量化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52160" y="2057400"/>
            <a:ext cx="182880" cy="228600"/>
          </a:xfrm>
          <a:prstGeom prst="down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228600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2:  ICRがKOTHA Module Kの精密検出力シミュレーションに入力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52160" y="3154680"/>
            <a:ext cx="182880" cy="228600"/>
          </a:xfrm>
          <a:prstGeom prst="down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338328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3:  Module TがICRをベイズ事前重みとして統合に使用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52160" y="4251960"/>
            <a:ext cx="182880" cy="228600"/>
          </a:xfrm>
          <a:prstGeom prst="down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448056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4:  Module HがOIS・TSA評価とともにICRを報告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669280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獲得能力: エビデンス統合の定量的精度向上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333333"/>
                </a:solidFill>
              </a:defRPr>
            </a:pPr>
            <a:r>
              <a:t>組み合わせ 3: IONE + KOTHA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78909C"/>
                </a:solidFill>
              </a:defRPr>
            </a:pPr>
            <a:r>
              <a:t>集団構造を反映したエビデンス統合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137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1:  IONEが観察データ中の非一貫的部分集団を検出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52160" y="2057400"/>
            <a:ext cx="182880" cy="228600"/>
          </a:xfrm>
          <a:prstGeom prst="down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228600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2:  部分集団のリスクプロファイルがKOTHA Module Kに入力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52160" y="3154680"/>
            <a:ext cx="182880" cy="228600"/>
          </a:xfrm>
          <a:prstGeom prst="down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338328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3:  Module Tが部分集団特異的効果とRCTデータを統合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52160" y="4251960"/>
            <a:ext cx="182880" cy="228600"/>
          </a:xfrm>
          <a:prstGeom prst="down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448056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4:  Module HがIONEのC1指標で代表性を評価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669280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獲得能力: 集団調和による外的妥当性の向上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333333"/>
                </a:solidFill>
              </a:defRPr>
            </a:pPr>
            <a:r>
              <a:t>組み合わせ 4: LINKO + IONE + KOTHA = ONISHI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78909C"/>
                </a:solidFill>
              </a:defRPr>
            </a:pPr>
            <a:r>
              <a:t>包括的エビデンス評価パイプライン</a:t>
            </a:r>
            <a:br/>
            <a:r>
              <a:t>(Optimal Normalization, Incoherence Stratification, and Harmonized Integration)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347472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200"/>
              </a:spcAft>
              <a:defRPr sz="1400" b="1" i="0">
                <a:solidFill>
                  <a:srgbClr val="FFFFFF"/>
                </a:solidFill>
              </a:defRPr>
            </a:pPr>
            <a:r>
              <a:t>Phase 1</a:t>
            </a:r>
          </a:p>
          <a:p>
            <a:pPr algn="ctr">
              <a:spcAft>
                <a:spcPts val="200"/>
              </a:spcAft>
              <a:defRPr sz="1400" b="1" i="0">
                <a:solidFill>
                  <a:srgbClr val="FFFFFF"/>
                </a:solidFill>
              </a:defRPr>
            </a:pPr>
            <a:r>
              <a:t>IONE</a:t>
            </a:r>
          </a:p>
          <a:p>
            <a:pPr algn="ctr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100" b="0" i="0">
                <a:solidFill>
                  <a:srgbClr val="FFFFFF"/>
                </a:solidFill>
              </a:defRPr>
            </a:pPr>
            <a:r>
              <a:t>集団分解</a:t>
            </a:r>
          </a:p>
          <a:p>
            <a:pPr algn="l">
              <a:spcBef>
                <a:spcPts val="200"/>
              </a:spcBef>
              <a:defRPr sz="1100" b="0" i="0">
                <a:solidFill>
                  <a:srgbClr val="FFFFFF"/>
                </a:solidFill>
              </a:defRPr>
            </a:pPr>
            <a:r>
              <a:t>非一貫的集団を検出 → コヒーレント部分集団を抽出 → C1指標を算出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17520" y="3017520"/>
            <a:ext cx="320040" cy="182880"/>
          </a:xfrm>
          <a:prstGeom prst="right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37560" y="1371600"/>
            <a:ext cx="2560320" cy="3474720"/>
          </a:xfrm>
          <a:prstGeom prst="roundRect">
            <a:avLst>
              <a:gd name="adj" fmla="val 1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200"/>
              </a:spcAft>
              <a:defRPr sz="1400" b="1" i="0">
                <a:solidFill>
                  <a:srgbClr val="FFFFFF"/>
                </a:solidFill>
              </a:defRPr>
            </a:pPr>
            <a:r>
              <a:t>Phase 2</a:t>
            </a:r>
          </a:p>
          <a:p>
            <a:pPr algn="ctr">
              <a:spcAft>
                <a:spcPts val="200"/>
              </a:spcAft>
              <a:defRPr sz="1400" b="1" i="0">
                <a:solidFill>
                  <a:srgbClr val="FFFFFF"/>
                </a:solidFill>
              </a:defRPr>
            </a:pPr>
            <a:r>
              <a:t>LINKO</a:t>
            </a:r>
          </a:p>
          <a:p>
            <a:pPr algn="ctr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100" b="0" i="0">
                <a:solidFill>
                  <a:srgbClr val="FFFFFF"/>
                </a:solidFill>
              </a:defRPr>
            </a:pPr>
            <a:r>
              <a:t>情報定量化</a:t>
            </a:r>
          </a:p>
          <a:p>
            <a:pPr algn="l">
              <a:spcBef>
                <a:spcPts val="200"/>
              </a:spcBef>
              <a:defRPr sz="1100" b="0" i="0">
                <a:solidFill>
                  <a:srgbClr val="FFFFFF"/>
                </a:solidFill>
              </a:defRPr>
            </a:pPr>
            <a:r>
              <a:t>部分集団ごとにICRを算出 → ICR乖離を評価 → Prism Forest Plot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97880" y="3017520"/>
            <a:ext cx="320040" cy="182880"/>
          </a:xfrm>
          <a:prstGeom prst="right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560320" cy="347472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200"/>
              </a:spcAft>
              <a:defRPr sz="1400" b="1" i="0">
                <a:solidFill>
                  <a:srgbClr val="FFFFFF"/>
                </a:solidFill>
              </a:defRPr>
            </a:pPr>
            <a:r>
              <a:t>Phase 3</a:t>
            </a:r>
          </a:p>
          <a:p>
            <a:pPr algn="ctr">
              <a:spcAft>
                <a:spcPts val="200"/>
              </a:spcAft>
              <a:defRPr sz="1400" b="1" i="0">
                <a:solidFill>
                  <a:srgbClr val="FFFFFF"/>
                </a:solidFill>
              </a:defRPr>
            </a:pPr>
            <a:r>
              <a:t>KOTHA</a:t>
            </a:r>
          </a:p>
          <a:p>
            <a:pPr algn="ctr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100" b="0" i="0">
                <a:solidFill>
                  <a:srgbClr val="FFFFFF"/>
                </a:solidFill>
              </a:defRPr>
            </a:pPr>
            <a:r>
              <a:t>エビデンス調和</a:t>
            </a:r>
          </a:p>
          <a:p>
            <a:pPr algn="l">
              <a:spcBef>
                <a:spcPts val="200"/>
              </a:spcBef>
              <a:defRPr sz="1100" b="0" i="0">
                <a:solidFill>
                  <a:srgbClr val="FFFFFF"/>
                </a:solidFill>
              </a:defRPr>
            </a:pPr>
            <a:r>
              <a:t>Module K: 検出力シミュレーション → Module T: ベイズ統合 → Module H: ガイドライン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78240" y="3017520"/>
            <a:ext cx="320040" cy="182880"/>
          </a:xfrm>
          <a:prstGeom prst="right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98280" y="1371600"/>
            <a:ext cx="2560320" cy="3474720"/>
          </a:xfrm>
          <a:prstGeom prst="roundRect">
            <a:avLst>
              <a:gd name="adj" fmla="val 10000"/>
            </a:avLst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200"/>
              </a:spcAft>
              <a:defRPr sz="1400" b="1" i="0">
                <a:solidFill>
                  <a:srgbClr val="FFFFFF"/>
                </a:solidFill>
              </a:defRPr>
            </a:pPr>
            <a:r>
              <a:t>出力</a:t>
            </a:r>
          </a:p>
          <a:p>
            <a:pPr algn="ctr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100" b="0" i="0">
                <a:solidFill>
                  <a:srgbClr val="FFFFFF"/>
                </a:solidFill>
              </a:defRPr>
            </a:pPr>
            <a:r>
              <a:t>統合的意思決定支援</a:t>
            </a:r>
          </a:p>
          <a:p>
            <a:pPr algn="l">
              <a:spcBef>
                <a:spcPts val="200"/>
              </a:spcBef>
              <a:defRPr sz="1100" b="0" i="0">
                <a:solidFill>
                  <a:srgbClr val="FFFFFF"/>
                </a:solidFill>
              </a:defRPr>
            </a:pPr>
            <a:r>
              <a:t>部分集団別推奨事項（完全な不確実性定量化付き）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5120640"/>
            <a:ext cx="7315200" cy="548640"/>
          </a:xfrm>
          <a:prstGeom prst="roundRect">
            <a:avLst>
              <a:gd name="adj" fmla="val 10000"/>
            </a:avLst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獲得能力: 多層的な包括的エビデンス評価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333333"/>
                </a:solidFill>
              </a:defRPr>
            </a:pPr>
            <a:r>
              <a:t>シナジーマトリックス: 各組み合わせで可能になること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486400"/>
                <a:gridCol w="274320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組み合わせ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新たに可能になる能力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主な獲得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96F3"/>
                          </a:solidFill>
                        </a:defRPr>
                      </a:pPr>
                      <a:r>
                        <a:t>LINKO + IONE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部分集団レベルのICR解析により</a:t>
                      </a:r>
                    </a:p>
                    <a:p>
                      <a:r>
                        <a:t>メタ解析の異質性の原因を解明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96F3"/>
                          </a:solidFill>
                        </a:defRPr>
                      </a:pPr>
                      <a:r>
                        <a:t>根本原因</a:t>
                      </a:r>
                    </a:p>
                    <a:p>
                      <a:r>
                        <a:t>の特定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96F3"/>
                          </a:solidFill>
                        </a:defRPr>
                      </a:pPr>
                      <a:r>
                        <a:t>LINKO + KOTHA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ICR情報に基づく検出力シミュレーション</a:t>
                      </a:r>
                    </a:p>
                    <a:p>
                      <a:r>
                        <a:t>とベイズ加重で精度向上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96F3"/>
                          </a:solidFill>
                        </a:defRPr>
                      </a:pPr>
                      <a:r>
                        <a:t>定量的</a:t>
                      </a:r>
                    </a:p>
                    <a:p>
                      <a:r>
                        <a:t>精度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9800"/>
                          </a:solidFill>
                        </a:defRPr>
                      </a:pPr>
                      <a:r>
                        <a:t>IONE + KOTHA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集団分解が反事実シミュレーション</a:t>
                      </a:r>
                    </a:p>
                    <a:p>
                      <a:r>
                        <a:t>と代表性評価に貢献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9800"/>
                          </a:solidFill>
                        </a:defRPr>
                      </a:pPr>
                      <a:r>
                        <a:t>外的</a:t>
                      </a:r>
                    </a:p>
                    <a:p>
                      <a:r>
                        <a:t>妥当性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C27B0"/>
                          </a:solidFill>
                        </a:defRPr>
                      </a:pPr>
                      <a:r>
                        <a:t>ONISHI</a:t>
                      </a:r>
                    </a:p>
                    <a:p>
                      <a:r>
                        <a:t>（3手法統合）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完全パイプライン: 異質性検出 →</a:t>
                      </a:r>
                    </a:p>
                    <a:p>
                      <a:r>
                        <a:t>情報定量化 → エビデンス調和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C27B0"/>
                          </a:solidFill>
                        </a:defRPr>
                      </a:pPr>
                      <a:r>
                        <a:t>包括的</a:t>
                      </a:r>
                    </a:p>
                    <a:p>
                      <a:r>
                        <a:t>評価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333333"/>
                </a:solidFill>
              </a:defRPr>
            </a:pPr>
            <a:r>
              <a:t>組み合わせ別 能力プロファイル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78909C"/>
                </a:solidFill>
              </a:defRPr>
            </a:pPr>
            <a:r>
              <a:t>6次元のレーダーチャートによる比較</a:t>
            </a:r>
          </a:p>
        </p:txBody>
      </p:sp>
      <p:pic>
        <p:nvPicPr>
          <p:cNvPr id="4" name="Picture 3" descr="fig5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88720"/>
            <a:ext cx="6400800" cy="55203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