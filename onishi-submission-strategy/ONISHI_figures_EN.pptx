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333333"/>
                </a:solidFill>
              </a:defRPr>
            </a:pPr>
            <a:r>
              <a:t>Three Analytical Frameworks: LINKO, IONE, KOTHA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78909C"/>
                </a:solidFill>
              </a:defRPr>
            </a:pPr>
            <a:r>
              <a:t>Components of the ONISHI Integrated Framework</a:t>
            </a:r>
            <a:br/>
            <a:r>
              <a:t>(Optimal Normalization, Incoherence Stratification, and Harmonized Integration)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92608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800" b="1" i="0">
                <a:solidFill>
                  <a:srgbClr val="FFFFFF"/>
                </a:solidFill>
              </a:defRPr>
            </a:pPr>
            <a:r>
              <a:t>LINKO</a:t>
            </a:r>
          </a:p>
          <a:p>
            <a:pPr algn="ctr">
              <a:spcAft>
                <a:spcPts val="600"/>
              </a:spcAft>
              <a:defRPr sz="900" b="0" i="1">
                <a:solidFill>
                  <a:srgbClr val="E0E0E0"/>
                </a:solidFill>
              </a:defRPr>
            </a:pPr>
            <a:r>
              <a:t>Latent Information Normalization for Key Outcomes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ICR (Information Contribution Ratio)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Meta-analysis validity diagnostic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Prism Forest Plot visualization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ICR-weighted pooling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2196F3"/>
                </a:solidFill>
              </a:defRPr>
            </a:pPr>
            <a:r>
              <a:t>Target: Meta-analysis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92608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800" b="1" i="0">
                <a:solidFill>
                  <a:srgbClr val="FFFFFF"/>
                </a:solidFill>
              </a:defRPr>
            </a:pPr>
            <a:r>
              <a:t>IONE</a:t>
            </a:r>
          </a:p>
          <a:p>
            <a:pPr algn="ctr">
              <a:spcAft>
                <a:spcPts val="600"/>
              </a:spcAft>
              <a:defRPr sz="900" b="0" i="1">
                <a:solidFill>
                  <a:srgbClr val="E0E0E0"/>
                </a:solidFill>
              </a:defRPr>
            </a:pPr>
            <a:r>
              <a:t>Incoherence-Oriented Neutralization and Extraction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Coherent subgroup detection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C1 coherence index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Simpson's paradox resolution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Hidden structure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FF9800"/>
                </a:solidFill>
              </a:defRPr>
            </a:pPr>
            <a:r>
              <a:t>Target: Individual study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292608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800" b="1" i="0">
                <a:solidFill>
                  <a:srgbClr val="FFFFFF"/>
                </a:solidFill>
              </a:defRPr>
            </a:pPr>
            <a:r>
              <a:t>KOTHA</a:t>
            </a:r>
          </a:p>
          <a:p>
            <a:pPr algn="ctr">
              <a:spcAft>
                <a:spcPts val="600"/>
              </a:spcAft>
              <a:defRPr sz="900" b="0" i="1">
                <a:solidFill>
                  <a:srgbClr val="E0E0E0"/>
                </a:solidFill>
              </a:defRPr>
            </a:pPr>
            <a:r>
              <a:t>Knowledge-driven Observational-Trial Harmonization Approach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Module K: Counterfactual power sim.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Module T: Bayesian integration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Module H: Guideline interpreter</a:t>
            </a:r>
          </a:p>
          <a:p>
            <a:pPr algn="l">
              <a:spcBef>
                <a:spcPts val="200"/>
              </a:spcBef>
              <a:defRPr sz="1000" b="0" i="0">
                <a:solidFill>
                  <a:srgbClr val="FFFFFF"/>
                </a:solidFill>
              </a:defRPr>
            </a:pPr>
            <a:r>
              <a:t>  RCT-observational harmonization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434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4CAF50"/>
                </a:solidFill>
              </a:defRPr>
            </a:pPr>
            <a:r>
              <a:t>Target: Evidence synthesis level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937760"/>
            <a:ext cx="9144000" cy="1097280"/>
          </a:xfrm>
          <a:prstGeom prst="roundRect">
            <a:avLst>
              <a:gd name="adj" fmla="val 10000"/>
            </a:avLst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FFFFFF"/>
                </a:solidFill>
              </a:defRPr>
            </a:pPr>
            <a:r>
              <a:t>Common Data Sources</a:t>
            </a:r>
          </a:p>
          <a:p>
            <a:pPr algn="ctr">
              <a:defRPr sz="1000" b="0" i="0">
                <a:solidFill>
                  <a:srgbClr val="FFFFFF"/>
                </a:solidFill>
              </a:defRPr>
            </a:pPr>
            <a:r>
              <a:t>RCT published data (Table 1)  |  Individual Patient Data (IPD)  |  Observational cohort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Combination 1: LINKO + 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8909C"/>
                </a:solidFill>
              </a:defRPr>
            </a:pPr>
            <a:r>
              <a:t>ICR-guided Subpopulation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1:  LINKO identifies anomalous ICR across studies in meta-analysis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05740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2:  IONE decomposes each study into coherent subgroups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15468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3:  ICR recalculated per subgroup reveals hidden heterogeneity sources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425196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4:  Subgroup-specific ICR-weighted meta-analysis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Gain: Root cause identification of heterogeneity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Combination 2: LINKO + KOTHA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8909C"/>
                </a:solidFill>
              </a:defRPr>
            </a:pPr>
            <a:r>
              <a:t>Information-Aware Evidence Synthesis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1:  LINKO quantifies information contribution of endpoints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05740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2:  ICR feeds into KOTHA Module K for refined power simulation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15468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3:  Module T uses ICR as Bayesian prior weight for integration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425196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4:  Module H reports ICR alongside OIS and TSA assessments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Gain: Quantitative precision in evidence synthesis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Combination 3: IONE + KOTHA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8909C"/>
                </a:solidFill>
              </a:defRPr>
            </a:pPr>
            <a:r>
              <a:t>Population-Harmonized Evidence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10515600" y="137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1:  IONE detects incoherent subgroups in observational data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05740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2:  Subgroup risk profiles inform KOTHA Module K simulation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15468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3:  Module T integrates subgroup-specific effects with RCT data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4251960"/>
            <a:ext cx="182880" cy="228600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480560"/>
            <a:ext cx="9144000" cy="8686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 i="0">
                <a:solidFill>
                  <a:srgbClr val="333333"/>
                </a:solidFill>
              </a:defRPr>
            </a:pPr>
            <a:r>
              <a:t>Step 4:  Module H assesses representativeness using IONE's C1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6692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Gain: External validity through population harmonization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Combination 4: LINKO + IONE + KOTHA  =  ONISHI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78909C"/>
                </a:solidFill>
              </a:defRPr>
            </a:pPr>
            <a:r>
              <a:t>Comprehensive Evidence Assessment Pipeline</a:t>
            </a:r>
            <a:br/>
            <a:r>
              <a:t>(Optimal Normalization, Incoherence Stratification, and Harmonized Integration)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Phase 1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IONE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Population Decomposition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Detect incoherent populations → Extract coherent subgroups → Compute C1 index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3017520"/>
            <a:ext cx="320040" cy="182880"/>
          </a:xfrm>
          <a:prstGeom prst="right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Phase 2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LINKO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Information Quantification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Compute ICR per subgroup → Assess ICR discrepancy → Prism Forest Plot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3017520"/>
            <a:ext cx="320040" cy="182880"/>
          </a:xfrm>
          <a:prstGeom prst="right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Phase 3</a:t>
            </a:r>
          </a:p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KOTHA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Evidence Harmonization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Module K: Power simulation → Module T: Bayesian synthesis → Module H: Guidelines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3017520"/>
            <a:ext cx="320040" cy="182880"/>
          </a:xfrm>
          <a:prstGeom prst="right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560320" cy="347472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200"/>
              </a:spcAft>
              <a:defRPr sz="1400" b="1" i="0">
                <a:solidFill>
                  <a:srgbClr val="FFFFFF"/>
                </a:solidFill>
              </a:defRPr>
            </a:pPr>
            <a:r>
              <a:t>Output</a:t>
            </a:r>
          </a:p>
          <a:p>
            <a:pPr algn="ctr">
              <a:defRPr sz="600" b="0" i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Integrated Decision Support</a:t>
            </a:r>
          </a:p>
          <a:p>
            <a:pPr algn="l">
              <a:spcBef>
                <a:spcPts val="200"/>
              </a:spcBef>
              <a:defRPr sz="1100" b="0" i="0">
                <a:solidFill>
                  <a:srgbClr val="FFFFFF"/>
                </a:solidFill>
              </a:defRPr>
            </a:pPr>
            <a:r>
              <a:t>Subgroup-specific recommendations with full uncertainty quantification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120640"/>
            <a:ext cx="7315200" cy="54864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Gain: Comprehensive multi-level evidence 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Synergy Matrix: What Each Combination Enables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  <a:gridCol w="274320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Combination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New Capability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Primary Gain</a:t>
                      </a:r>
                    </a:p>
                  </a:txBody>
                  <a:tcPr>
                    <a:solidFill>
                      <a:srgbClr val="37474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LINKO + IONE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Subgroup-level ICR analysis reveals</a:t>
                      </a:r>
                    </a:p>
                    <a:p>
                      <a:r>
                        <a:t>why meta-analysis heterogeneity arises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Root cause</a:t>
                      </a:r>
                    </a:p>
                    <a:p>
                      <a:r>
                        <a:t>identification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LINKO + KOTHA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ICR-informed power simulation and</a:t>
                      </a:r>
                    </a:p>
                    <a:p>
                      <a:r>
                        <a:t>Bayesian weighting improve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96F3"/>
                          </a:solidFill>
                        </a:defRPr>
                      </a:pPr>
                      <a:r>
                        <a:t>Quantitative</a:t>
                      </a:r>
                    </a:p>
                    <a:p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9800"/>
                          </a:solidFill>
                        </a:defRPr>
                      </a:pPr>
                      <a:r>
                        <a:t>IONE + KOTHA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Population decomposition feeds</a:t>
                      </a:r>
                    </a:p>
                    <a:p>
                      <a:r>
                        <a:t>counterfactual simulation &amp; representativeness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9800"/>
                          </a:solidFill>
                        </a:defRPr>
                      </a:pPr>
                      <a:r>
                        <a:t>External</a:t>
                      </a:r>
                    </a:p>
                    <a:p>
                      <a:r>
                        <a:t>validity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C27B0"/>
                          </a:solidFill>
                        </a:defRPr>
                      </a:pPr>
                      <a:r>
                        <a:t>ONISHI</a:t>
                      </a:r>
                    </a:p>
                    <a:p>
                      <a:r>
                        <a:t>(All three)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pipeline: detect heterogeneity →</a:t>
                      </a:r>
                    </a:p>
                    <a:p>
                      <a:r>
                        <a:t>quantify information → harmonize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C27B0"/>
                          </a:solidFill>
                        </a:defRPr>
                      </a:pPr>
                      <a:r>
                        <a:t>Comprehensive</a:t>
                      </a:r>
                    </a:p>
                    <a:p>
                      <a:r>
                        <a:t>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333333"/>
                </a:solidFill>
              </a:defRPr>
            </a:pPr>
            <a:r>
              <a:t>Capability Profile by Combination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78909C"/>
                </a:solidFill>
              </a:defRPr>
            </a:pPr>
            <a:r>
              <a:t>Comparative radar chart across 6 dimensions</a:t>
            </a:r>
          </a:p>
        </p:txBody>
      </p:sp>
      <p:pic>
        <p:nvPicPr>
          <p:cNvPr id="4" name="Picture 3" descr="fig5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6400800" cy="5520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